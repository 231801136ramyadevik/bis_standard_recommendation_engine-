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9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62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56816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56432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604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0508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6816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5856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508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56816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05856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08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700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56816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06624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05856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55664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05472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528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0508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0700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6816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06624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6432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0624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5604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5856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55664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05472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5528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0508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0700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56816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6624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56432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5604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05856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55664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05472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0508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1097280"/>
            <a:ext cx="64008" cy="2926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0080" y="960120"/>
            <a:ext cx="2194560" cy="32004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978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D4AA"/>
                </a:solidFill>
              </a:rPr>
              <a:t>BIS COMPLIANCE ENGINE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40080" y="13258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 Standards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Engine</a:t>
            </a:r>
            <a:endParaRPr lang="en-US" sz="3800" dirty="0"/>
          </a:p>
        </p:txBody>
      </p:sp>
      <p:sp>
        <p:nvSpPr>
          <p:cNvPr id="78" name="Text 76"/>
          <p:cNvSpPr/>
          <p:nvPr/>
        </p:nvSpPr>
        <p:spPr>
          <a:xfrm>
            <a:off x="658368" y="3291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Discovery for Indian MSEs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658368" y="3749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description to BIS standard in &lt; 0.1 seconds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583680" y="914400"/>
            <a:ext cx="2286000" cy="3474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36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D4A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720840" y="1417320"/>
            <a:ext cx="2011680" cy="82296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14538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endParaRPr lang="en-US" sz="2200" dirty="0"/>
          </a:p>
        </p:txBody>
      </p:sp>
      <p:sp>
        <p:nvSpPr>
          <p:cNvPr id="84" name="Text 82"/>
          <p:cNvSpPr/>
          <p:nvPr/>
        </p:nvSpPr>
        <p:spPr>
          <a:xfrm>
            <a:off x="6720840" y="1819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to find the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right standard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720840" y="2423160"/>
            <a:ext cx="2011680" cy="82296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20840" y="2459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1000s</a:t>
            </a:r>
            <a:endParaRPr lang="en-US" sz="2200" dirty="0"/>
          </a:p>
        </p:txBody>
      </p:sp>
      <p:sp>
        <p:nvSpPr>
          <p:cNvPr id="87" name="Text 85"/>
          <p:cNvSpPr/>
          <p:nvPr/>
        </p:nvSpPr>
        <p:spPr>
          <a:xfrm>
            <a:off x="6720840" y="2825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of BIS standards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to navigate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720840" y="3429000"/>
            <a:ext cx="2011680" cy="82296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0840" y="3465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74%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6720840" y="3831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of MSEs delayed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3"/>
                </a:solidFill>
              </a:rPr>
              <a:t>by compliance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Hackathon Submission  ·  Track: AI / RAG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2918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User describes their product in plain language — no technical knowledge required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651760" cy="32918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1005840"/>
            <a:ext cx="26517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Pipeline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Keyword-priority matching + FAISS semantic retrieval + LLM re-ranking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651760" cy="32918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005840"/>
            <a:ext cx="26517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34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Top 3–5 BIS standards with category labels, ranked by relevance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D4AA"/>
                </a:solidFill>
              </a:rPr>
              <a:t>⚡  Key Differentiator: Zero-latency keyword-priority layer ensures correct results even without semantic similarity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115568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Ingestion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pdfplumber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44752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1051560"/>
            <a:ext cx="1115568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Chunking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36192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IS-boundary split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60904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2344" y="1051560"/>
            <a:ext cx="1115568" cy="868680"/>
          </a:xfrm>
          <a:prstGeom prst="rect">
            <a:avLst/>
          </a:prstGeom>
          <a:solidFill>
            <a:srgbClr val="0D33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2344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Embeddings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52344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all-MiniLM-L6-v2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77056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496" y="1051560"/>
            <a:ext cx="1115568" cy="868680"/>
          </a:xfrm>
          <a:prstGeom prst="rect">
            <a:avLst/>
          </a:prstGeom>
          <a:solidFill>
            <a:srgbClr val="0D33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8496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8496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FAISS Index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68496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IndexFlatIP + L2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93208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4648" y="1051560"/>
            <a:ext cx="1115568" cy="868680"/>
          </a:xfrm>
          <a:prstGeom prst="rect">
            <a:avLst/>
          </a:prstGeom>
          <a:solidFill>
            <a:srgbClr val="2A1A0D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4648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 Map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84648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Keyword lookup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051560"/>
            <a:ext cx="1115568" cy="868680"/>
          </a:xfrm>
          <a:prstGeom prst="rect">
            <a:avLst/>
          </a:prstGeom>
          <a:solidFill>
            <a:srgbClr val="2A1A0D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Re-ranking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Overlap + category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25512" y="1444752"/>
            <a:ext cx="82296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1051560"/>
            <a:ext cx="1115568" cy="868680"/>
          </a:xfrm>
          <a:prstGeom prst="rect">
            <a:avLst/>
          </a:prstGeom>
          <a:solidFill>
            <a:srgbClr val="1A0D2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16952" y="1051560"/>
            <a:ext cx="1115568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1143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API Output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16952" y="1527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FastAPI /recommend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240280"/>
            <a:ext cx="2651760" cy="2651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" y="2788920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2734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BIS SP 21 PDF parsed with pdfplumber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" y="335584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33009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Chunked on IS-number boundaries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" y="3922776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867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~60+ standard chunks categorised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37560" y="2240280"/>
            <a:ext cx="2651760" cy="2651760"/>
          </a:xfrm>
          <a:prstGeom prst="rect">
            <a:avLst/>
          </a:prstGeom>
          <a:solidFill>
            <a:srgbClr val="0D33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Retrieval Layer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38728" y="2788920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5032" y="2734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Priority keyword map for exact matches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38728" y="335584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5032" y="33009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FAISS semantic search (cosine sim)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538728" y="3922776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85032" y="3867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Category-filtered sub-index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17920" y="2240280"/>
            <a:ext cx="2651760" cy="2651760"/>
          </a:xfrm>
          <a:prstGeom prst="rect">
            <a:avLst/>
          </a:prstGeom>
          <a:solidFill>
            <a:srgbClr val="0D2A1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Output Layer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19088" y="2788920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65392" y="2734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Re-ranker with domain score bonuses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19088" y="3355848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33009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Regex extraction of IS numbers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19088" y="3922776"/>
            <a:ext cx="82296" cy="8229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3867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FastAPI JSON response &lt; 0.1s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 &amp; Retrieval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40480" cy="39319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CHUNKING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179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PDF → Raw Text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pdfplumber page-by-page extraction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0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IS-boundary split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regex: r'(?=IS\s?\d{3,5})'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688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Category tagging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cement / steel / masonry / products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374136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558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300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Min length filter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3557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chunks &lt; 50 chars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986784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684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Sentence embedding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4169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 (384-dim)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114800" cy="39319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88FF"/>
                </a:solidFill>
              </a:rPr>
              <a:t>RETRIEVAL PIPELINE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3749040" cy="91440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463040"/>
            <a:ext cx="54864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PRIORITY 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18105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57 keyword patterns, longest-match first.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Ensures perfect recall for known queries.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560320"/>
            <a:ext cx="3749040" cy="914400"/>
          </a:xfrm>
          <a:prstGeom prst="rect">
            <a:avLst/>
          </a:prstGeom>
          <a:solidFill>
            <a:srgbClr val="0A1828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560320"/>
            <a:ext cx="54864" cy="914400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FAISS RETRIEVAL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29077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Category-filtered sub-index.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Cosine similarity, top-15 retrieved.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3749040" cy="914400"/>
          </a:xfrm>
          <a:prstGeom prst="rect">
            <a:avLst/>
          </a:prstGeom>
          <a:solidFill>
            <a:srgbClr val="1A1A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57600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RE-RANKER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40050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Word overlap + category keyword bonus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+ IS-number presence bonus.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297680"/>
            <a:ext cx="3749040" cy="45720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Priority → FAISS → Re-rank → top 5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QUERY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54480" y="10424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0FE"/>
                </a:solidFill>
              </a:rPr>
              <a:t>"33 grade OPC cement for structural use"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024128"/>
            <a:ext cx="1005840" cy="256032"/>
          </a:xfrm>
          <a:prstGeom prst="rect">
            <a:avLst/>
          </a:prstGeom>
          <a:solidFill>
            <a:srgbClr val="0A1828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042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8FF"/>
                </a:solidFill>
              </a:rPr>
              <a:t>⚡ 0.010s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81328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269: 1989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81328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81328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0332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8112: 1989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481328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481328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12269: 1987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359152"/>
            <a:ext cx="8229600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59152"/>
            <a:ext cx="1005840" cy="292608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QUERY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54480" y="2395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0FE"/>
                </a:solidFill>
              </a:rPr>
              <a:t>"TMT steel reinforcement bars for RCC"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2377440"/>
            <a:ext cx="1005840" cy="256032"/>
          </a:xfrm>
          <a:prstGeom prst="rect">
            <a:avLst/>
          </a:prstGeom>
          <a:solidFill>
            <a:srgbClr val="0A1828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3957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8FF"/>
                </a:solidFill>
              </a:rPr>
              <a:t>⚡ 0.009s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2834640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834640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1786: 2008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2834640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834640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033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456: 2000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2834640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834640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1599: 1985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712464"/>
            <a:ext cx="8229600" cy="1188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712464"/>
            <a:ext cx="1005840" cy="292608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QUERY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54480" y="3749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0FE"/>
                </a:solidFill>
              </a:rPr>
              <a:t>"Hollow lightweight concrete blocks for masonry"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98080" y="3730752"/>
            <a:ext cx="1005840" cy="256032"/>
          </a:xfrm>
          <a:prstGeom prst="rect">
            <a:avLst/>
          </a:prstGeom>
          <a:solidFill>
            <a:srgbClr val="0A1828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749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8FF"/>
                </a:solidFill>
              </a:rPr>
              <a:t>⚡ 0.008s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4187952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187952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2185 (Part 2): 1983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37560" y="4187952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4187952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0332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2185 (Part 1): 1979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35040" y="4187952"/>
            <a:ext cx="2560320" cy="5029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4187952"/>
            <a:ext cx="2743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#3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0080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 456: 2000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892040"/>
            <a:ext cx="8229600" cy="7315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365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</a:rPr>
              <a:t>✓ Handles grade-specific queries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14600" y="47365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</a:rPr>
              <a:t>✓ Correct even for indirect descriptions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0" y="47365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</a:rPr>
              <a:t>✓ Category-aware filtering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29400" y="47365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</a:rPr>
              <a:t>✓ Sub-100ms response 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201168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Hit Rate @3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</a:rPr>
              <a:t>Target: &gt;80%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2011680"/>
          </a:xfrm>
          <a:prstGeom prst="rect">
            <a:avLst/>
          </a:prstGeom>
          <a:solidFill>
            <a:srgbClr val="0A1828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54864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MRR @5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FF"/>
                </a:solidFill>
              </a:rPr>
              <a:t>Target: &gt;0.7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2011680"/>
          </a:xfrm>
          <a:prstGeom prst="rect">
            <a:avLst/>
          </a:prstGeom>
          <a:solidFill>
            <a:srgbClr val="1A0D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060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&lt;0.1s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487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</a:rPr>
              <a:t>Target: &lt;5s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FA3"/>
                </a:solidFill>
              </a:rPr>
              <a:t>Public Test Set Results (10 queries)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Query 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Standard Retrieved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Hit @3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FA3"/>
                          </a:solidFill>
                        </a:rPr>
                        <a:t>PUB-01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IS 269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88FF"/>
                          </a:solidFill>
                        </a:rPr>
                        <a:t>0.010s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FA3"/>
                          </a:solidFill>
                        </a:rPr>
                        <a:t>PUB-02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IS 456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88FF"/>
                          </a:solidFill>
                        </a:rPr>
                        <a:t>0.009s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FA3"/>
                          </a:solidFill>
                        </a:rPr>
                        <a:t>PUB-03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IS 269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88FF"/>
                          </a:solidFill>
                        </a:rPr>
                        <a:t>0.010s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FA3"/>
                          </a:solidFill>
                        </a:rPr>
                        <a:t>PUB-04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IS 456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88FF"/>
                          </a:solidFill>
                        </a:rPr>
                        <a:t>0.008s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FA3"/>
                          </a:solidFill>
                        </a:rPr>
                        <a:t>PUB-05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IS 269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88FF"/>
                          </a:solidFill>
                        </a:rPr>
                        <a:t>0.009s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on MSEs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40480" cy="3200400"/>
          </a:xfrm>
          <a:prstGeom prst="rect">
            <a:avLst/>
          </a:prstGeom>
          <a:solidFill>
            <a:srgbClr val="1A0808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4D6D"/>
                </a:solidFill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9A"/>
                </a:solidFill>
              </a:rPr>
              <a:t>✗  Manually search BIS 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9A"/>
                </a:solidFill>
              </a:rPr>
              <a:t>✗  Consult expensive compliance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9A"/>
                </a:solidFill>
              </a:rPr>
              <a:t>✗  Wait weeks for expert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9A"/>
                </a:solidFill>
              </a:rPr>
              <a:t>✗  Risk wrong standard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9A"/>
                </a:solidFill>
              </a:rPr>
              <a:t>✗  High compliance cost for small firms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840480" cy="320040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D4AA"/>
                </a:solidFill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✓  Describe product in plain 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✓  Get top 5 standards in &lt; 0.1 seconds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✓  Zero technical knowledge required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✓  Accurate category-aware matching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✓  Free to use — levels the playing field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2606040" cy="68580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63M+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636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MSEs in India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297680"/>
            <a:ext cx="2606040" cy="68580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→ Sec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4636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Compliance Discovery 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4297680"/>
            <a:ext cx="2606040" cy="68580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4636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</a:rPr>
              <a:t>Cost to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56816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6624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56432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604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05088" y="3657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6816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5856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5088" y="114300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56816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05856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088" y="192024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700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56816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06624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05856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55664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05472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5280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05088" y="269748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0700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6816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06624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6432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0624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5604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5856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55664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05472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55280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05088" y="34747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0700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56816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6624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56432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5604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05856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55664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05472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0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05088" y="42519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Acknowledgements</a:t>
            </a:r>
            <a:endParaRPr lang="en-US" sz="2800" dirty="0"/>
          </a:p>
        </p:txBody>
      </p:sp>
      <p:sp>
        <p:nvSpPr>
          <p:cNvPr id="75" name="Shape 73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" y="1005840"/>
            <a:ext cx="41148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D4AA"/>
                </a:solidFill>
              </a:rPr>
              <a:t>OUR TEAM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4008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Hackathon Participants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4008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FA3"/>
                </a:solidFill>
              </a:rPr>
              <a:t>Track: AI / Retrieval Augmented Generation (RAG)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FA3"/>
                </a:solidFill>
              </a:rPr>
              <a:t>Event: BIS X SS Hackathon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FA3"/>
                </a:solidFill>
              </a:rPr>
              <a:t>Submission: May 3, 2026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D4AA"/>
                </a:solidFill>
              </a:rPr>
              <a:t>Done by Ramya Devi K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40080" y="2834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AA"/>
                </a:solidFill>
              </a:rPr>
              <a:t>TECH STACK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0080" y="315468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" y="3172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Python 3.10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560320" y="315468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0" y="3172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FastAPI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40080" y="352044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008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FAISS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560320" y="352044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6032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sentence-transformers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40080" y="388620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3904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pdfplumber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560320" y="3886200"/>
            <a:ext cx="1737360" cy="27432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0" y="3904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pptxgenjs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0F1E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88FF"/>
                </a:solidFill>
              </a:rPr>
              <a:t>ACKNOWLEDGEMENTS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937760" y="1600200"/>
            <a:ext cx="82296" cy="82296"/>
          </a:xfrm>
          <a:prstGeom prst="ellipse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02352" y="1536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Bureau of Indian Standards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102352" y="1792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</a:rPr>
              <a:t>For publishing the BIS SP 21 dataset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937760" y="2130552"/>
            <a:ext cx="82296" cy="82296"/>
          </a:xfrm>
          <a:prstGeom prst="ellipse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02352" y="2066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sentence-transformers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102352" y="2322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</a:rPr>
              <a:t>all-MiniLM-L6-v2 by SBERT.net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937760" y="2660904"/>
            <a:ext cx="82296" cy="82296"/>
          </a:xfrm>
          <a:prstGeom prst="ellipse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102352" y="2596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Facebook Research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5102352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</a:rPr>
              <a:t>FAISS vector search library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4937760" y="3191256"/>
            <a:ext cx="82296" cy="82296"/>
          </a:xfrm>
          <a:prstGeom prst="ellipse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02352" y="3127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Source Community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102352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</a:rPr>
              <a:t>pdfplumber, FastAPI, numpy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937760" y="3721608"/>
            <a:ext cx="82296" cy="82296"/>
          </a:xfrm>
          <a:prstGeom prst="ellipse">
            <a:avLst/>
          </a:prstGeom>
          <a:solidFill>
            <a:srgbClr val="0088FF"/>
          </a:solidFill>
          <a:ln w="12700">
            <a:solidFill>
              <a:srgbClr val="0088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02352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Hackathon Organisers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5102352" y="3913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</a:rPr>
              <a:t>BIS X SS Hackathon team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D2A2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D4AA"/>
                </a:solidFill>
              </a:rPr>
              <a:t>🚀  Building compliance tools that empower India's 63 million MSEs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On-screen Show (16:9)</PresentationFormat>
  <Paragraphs>199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subject>PptxGenJS Presentation</dc:subject>
  <dc:creator>PptxGenJS</dc:creator>
  <cp:lastModifiedBy>YOGA</cp:lastModifiedBy>
  <cp:revision>1</cp:revision>
  <dcterms:created xsi:type="dcterms:W3CDTF">2026-05-03T16:04:26Z</dcterms:created>
  <dcterms:modified xsi:type="dcterms:W3CDTF">2026-05-04T05:20:38Z</dcterms:modified>
</cp:coreProperties>
</file>